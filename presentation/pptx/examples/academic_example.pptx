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every value here with audited, ledger-backed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claim must map to the Evidence Ledger or a SOURCE VERIFIED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SOURCE VERIFIED entries may appear as [n].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node must correspond to an IMPLEMENTED ledger entry.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Status column wording must match ledger statuses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Never present planned items as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shows verified functionality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1F4E79"/>
                </a:solidFill>
                <a:latin typeface="Calibri"/>
              </a:rPr>
              <a:t>Project Title: A Sample Software System</a:t>
            </a:r>
          </a:p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F2A37"/>
                </a:solidFill>
                <a:latin typeface="Calibri"/>
              </a:rPr>
              <a:t>Academic project presentation — synthetic example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091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770"/>
                </a:solidFill>
                <a:latin typeface="Calibri"/>
              </a:rPr>
              <a:t>Course / Cluster: Engineering &amp; Science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770"/>
                </a:solidFill>
                <a:latin typeface="Calibri"/>
              </a:rPr>
              <a:t>Phase 1+2+3 skeleton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EEF3F8"/>
                </a:solidFill>
                <a:latin typeface="Calibri"/>
              </a:rPr>
              <a:t>PHASE 1 —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Background &amp;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SYNTHETIC EXAMPLE — Academic Deck Skeleton (not a real project)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1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4E79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20116"/>
          </a:xfrm>
          <a:prstGeom prst="rect">
            <a:avLst/>
          </a:prstGeom>
          <a:solidFill>
            <a:srgbClr val="C9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167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• PROJECT FACT: what the audited repository actually addresses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• Motivation grounded in the Fact Sheet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• Cite verified literature with [n] markers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SYNTHETIC EXAMPLE — Academic Deck Skeleton (not a real project)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4E79"/>
                </a:solidFill>
                <a:latin typeface="Calibri"/>
              </a:rPr>
              <a:t>Literature Review &amp;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20116"/>
          </a:xfrm>
          <a:prstGeom prst="rect">
            <a:avLst/>
          </a:prstGeom>
          <a:solidFill>
            <a:srgbClr val="C9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167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• RESEARCH: existing approaches [1], [2]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• INTERPRETATION: suggests a gap around ...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• Do not manufacture novelty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SYNTHETIC EXAMPLE — Academic Deck Skeleton (not a real project)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EEF3F8"/>
                </a:solidFill>
                <a:latin typeface="Calibri"/>
              </a:rPr>
              <a:t>PHASE 2 — 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SYNTHETIC EXAMPLE — Academic Deck Skeleton (not a real project)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4E79"/>
                </a:solidFill>
                <a:latin typeface="Calibri"/>
              </a:rPr>
              <a:t>System Architecture (as implemented)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20116"/>
          </a:xfrm>
          <a:prstGeom prst="rect">
            <a:avLst/>
          </a:prstGeom>
          <a:solidFill>
            <a:srgbClr val="C9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828800" y="2743200"/>
            <a:ext cx="4114800" cy="0"/>
          </a:xfrm>
          <a:prstGeom prst="line">
            <a:avLst/>
          </a:prstGeom>
          <a:ln w="22225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880360" y="259689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B6770"/>
                </a:solidFill>
                <a:latin typeface="Calibri"/>
              </a:rPr>
              <a:t>HTTP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0" y="2743200"/>
            <a:ext cx="4114800" cy="0"/>
          </a:xfrm>
          <a:prstGeom prst="line">
            <a:avLst/>
          </a:prstGeom>
          <a:ln w="22225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995160" y="259689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B6770"/>
                </a:solidFill>
                <a:latin typeface="Calibri"/>
              </a:rPr>
              <a:t>SQL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2377440" cy="914400"/>
          </a:xfrm>
          <a:prstGeom prst="roundRect">
            <a:avLst/>
          </a:prstGeom>
          <a:solidFill>
            <a:srgbClr val="EEF3F8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F2A37"/>
                </a:solidFill>
                <a:latin typeface="Calibri"/>
              </a:rPr>
              <a:t>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2286000"/>
            <a:ext cx="2377440" cy="914400"/>
          </a:xfrm>
          <a:prstGeom prst="rect">
            <a:avLst/>
          </a:prstGeom>
          <a:solidFill>
            <a:srgbClr val="EEF3F8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F2A37"/>
                </a:solidFill>
                <a:latin typeface="Calibri"/>
              </a:rPr>
              <a:t>API / Backend</a:t>
            </a:r>
          </a:p>
        </p:txBody>
      </p:sp>
      <p:sp>
        <p:nvSpPr>
          <p:cNvPr id="10" name="Can 9"/>
          <p:cNvSpPr/>
          <p:nvPr/>
        </p:nvSpPr>
        <p:spPr>
          <a:xfrm>
            <a:off x="8961120" y="2286000"/>
            <a:ext cx="2194560" cy="914400"/>
          </a:xfrm>
          <a:prstGeom prst="can">
            <a:avLst/>
          </a:prstGeom>
          <a:solidFill>
            <a:srgbClr val="EEF3F8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F2A37"/>
                </a:solidFill>
                <a:latin typeface="Calibri"/>
              </a:rPr>
              <a:t>Database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384048"/>
            <a:ext cx="3291840" cy="384048"/>
          </a:xfrm>
          <a:prstGeom prst="round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IMPLEMENTED (verified)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SYNTHETIC EXAMPLE — Academic Deck Skeleton (not a real project)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4E79"/>
                </a:solidFill>
                <a:latin typeface="Calibri"/>
              </a:rPr>
              <a:t>Technology Stack &amp; Required Software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20116"/>
          </a:xfrm>
          <a:prstGeom prst="rect">
            <a:avLst/>
          </a:prstGeom>
          <a:solidFill>
            <a:srgbClr val="C9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9167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5545836"/>
                <a:gridCol w="2772918"/>
              </a:tblGrid>
              <a:tr h="50292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F2A37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F2A37"/>
                          </a:solidFill>
                          <a:latin typeface="Calibri"/>
                        </a:rPr>
                        <a:t>(from audit)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F2A37"/>
                          </a:solidFill>
                          <a:latin typeface="Calibri"/>
                        </a:rPr>
                        <a:t>Implemented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F2A37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F2A37"/>
                          </a:solidFill>
                          <a:latin typeface="Calibri"/>
                        </a:rPr>
                        <a:t>(from audit)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F2A37"/>
                          </a:solidFill>
                          <a:latin typeface="Calibri"/>
                        </a:rPr>
                        <a:t>Implemented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F2A37"/>
                          </a:solidFill>
                          <a:latin typeface="Calibri"/>
                        </a:rPr>
                        <a:t>Tooling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F2A37"/>
                          </a:solidFill>
                          <a:latin typeface="Calibri"/>
                        </a:rPr>
                        <a:t>(from audit)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F2A37"/>
                          </a:solidFill>
                          <a:latin typeface="Calibri"/>
                        </a:rPr>
                        <a:t>Partially Implemented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SYNTHETIC EXAMPLE — Academic Deck Skeleton (not a real project)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EEF3F8"/>
                </a:solidFill>
                <a:latin typeface="Calibri"/>
              </a:rPr>
              <a:t>PHASE 3 — EXECUTION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Progress &amp;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SYNTHETIC EXAMPLE — Academic Deck Skeleton (not a real project)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4E79"/>
                </a:solidFill>
                <a:latin typeface="Calibri"/>
              </a:rPr>
              <a:t>Development Progress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20116"/>
          </a:xfrm>
          <a:prstGeom prst="rect">
            <a:avLst/>
          </a:prstGeom>
          <a:solidFill>
            <a:srgbClr val="C9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167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• Implemented: ... (verified in code)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• Partially implemented: ...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• Planned / Future Roadmap: 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384048"/>
            <a:ext cx="3291840" cy="384048"/>
          </a:xfrm>
          <a:prstGeom prst="round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IMPLEMENTED (verified)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SYNTHETIC EXAMPLE — Academic Deck Skeleton (not a real project)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4E79"/>
                </a:solidFill>
                <a:latin typeface="Calibri"/>
              </a:rPr>
              <a:t>Challenges &amp; Solutions + Demo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20116"/>
          </a:xfrm>
          <a:prstGeom prst="rect">
            <a:avLst/>
          </a:prstGeom>
          <a:solidFill>
            <a:srgbClr val="C9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167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• Challenge observed during development → solution implemented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• DEMO START POINT: ...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• KEY FUNCTIONALITY TO SHOW: verified features only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• KNOWN LIMITATIONS: stated honestly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SYNTHETIC EXAMPLE — Academic Deck Skeleton (not a real project)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